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02" r:id="rId51"/>
    <p:sldId id="303" r:id="rId52"/>
    <p:sldId id="295" r:id="rId45"/>
    <p:sldId id="279" r:id="rId25"/>
    <p:sldId id="280" r:id="rId26"/>
    <p:sldId id="296" r:id="rId46"/>
    <p:sldId id="281" r:id="rId27"/>
    <p:sldId id="282" r:id="rId28"/>
    <p:sldId id="284" r:id="rId30"/>
    <p:sldId id="297" r:id="rId47"/>
    <p:sldId id="304" r:id="rId53"/>
    <p:sldId id="283" r:id="rId29"/>
    <p:sldId id="286" r:id="rId32"/>
    <p:sldId id="300" r:id="rId50"/>
    <p:sldId id="298" r:id="rId48"/>
    <p:sldId id="299" r:id="rId49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05" r:id="rId54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Relationship Id="rId7" Type="http://schemas.openxmlformats.org/officeDocument/2006/relationships/image" Target="../media/bg-circuit-light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Relationship Id="rId7" Type="http://schemas.openxmlformats.org/officeDocument/2006/relationships/image" Target="../media/bg-circuit-light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Relationship Id="rId7" Type="http://schemas.openxmlformats.org/officeDocument/2006/relationships/image" Target="../media/bg-circuit-light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Relationship Id="rId7" Type="http://schemas.openxmlformats.org/officeDocument/2006/relationships/image" Target="../media/bg-circuit-light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Relationship Id="rId7" Type="http://schemas.openxmlformats.org/officeDocument/2006/relationships/image" Target="../media/bg-server-light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bg-cloud-light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s6-4.png"/><Relationship Id="rId2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s6-5.png"/><Relationship Id="rId2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Relationship Id="rId7" Type="http://schemas.openxmlformats.org/officeDocument/2006/relationships/image" Target="../media/bg-cloud-light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cf-1.png"/><Relationship Id="rId2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bg-wave-dark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cf-2.png"/><Relationship Id="rId2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cw-1.png"/><Relationship Id="rId2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cw-5.png"/><Relationship Id="rId2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image" Target="../media/image-cw-6.png"/><Relationship Id="rId2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png"/><Relationship Id="rId13" Type="http://schemas.openxmlformats.org/officeDocument/2006/relationships/image" Target="../media/image-34-13.png"/><Relationship Id="rId14" Type="http://schemas.openxmlformats.org/officeDocument/2006/relationships/image" Target="../media/image-34-14.png"/><Relationship Id="rId15" Type="http://schemas.openxmlformats.org/officeDocument/2006/relationships/image" Target="../media/image-3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4.xml"/><Relationship Id="rId18" Type="http://schemas.openxmlformats.org/officeDocument/2006/relationships/image" Target="../media/bg-radar-light.png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image" Target="../media/bg-circuit-dark.png"/><Relationship Id="rId2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Relationship Id="rId9" Type="http://schemas.openxmlformats.org/officeDocument/2006/relationships/image" Target="../media/bg-thankyou.png"/><Relationship Id="rId10" Type="http://schemas.openxmlformats.org/officeDocument/2006/relationships/image" Target="../media/bg-handshake.png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image" Target="../media/image-s6-3.png"/><Relationship Id="rId2" Type="http://schemas.openxmlformats.org/officeDocument/2006/relationships/slideLayout" Target="../slideLayouts/slideLayout1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image" Target="../media/image-s6-6.png"/><Relationship Id="rId2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image" Target="../media/image-cf-3.png"/><Relationship Id="rId2" Type="http://schemas.openxmlformats.org/officeDocument/2006/relationships/slideLayout" Target="../slideLayouts/slideLayout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image" Target="../media/image-cw-3.png"/><Relationship Id="rId2" Type="http://schemas.openxmlformats.org/officeDocument/2006/relationships/slideLayout" Target="../slideLayouts/slideLayout1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image" Target="../media/image-cw-4.png"/><Relationship Id="rId2" Type="http://schemas.openxmlformats.org/officeDocument/2006/relationships/slideLayout" Target="../slideLayouts/slideLayout1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image" Target="../media/image-cw-2.png"/><Relationship Id="rId2" Type="http://schemas.openxmlformats.org/officeDocument/2006/relationships/slideLayout" Target="../slideLayouts/slideLayout1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image" Target="../media/image-s6-1.png"/><Relationship Id="rId2" Type="http://schemas.openxmlformats.org/officeDocument/2006/relationships/slideLayout" Target="../slideLayouts/slideLayout1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image" Target="../media/image-s6-2.png"/><Relationship Id="rId2" Type="http://schemas.openxmlformats.org/officeDocument/2006/relationships/slideLayout" Target="../slideLayouts/slideLayout1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image" Target="../media/image-cf-4.png"/><Relationship Id="rId2" Type="http://schemas.openxmlformats.org/officeDocument/2006/relationships/slideLayout" Target="../slideLayouts/slideLayout1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image" Target="../media/bg-thankyou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bg-handshak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754880" cy="475488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-91440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274320"/>
            <a:ext cx="2560320" cy="2560320"/>
          </a:xfrm>
          <a:prstGeom prst="ellipse">
            <a:avLst/>
          </a:prstGeom>
          <a:solidFill>
            <a:srgbClr val="00C9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20640" y="457200"/>
            <a:ext cx="109728" cy="109728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8872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920240"/>
            <a:ext cx="91440" cy="9144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2468880"/>
            <a:ext cx="82296" cy="82296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0" y="3108960"/>
            <a:ext cx="100584" cy="100584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3840480"/>
            <a:ext cx="73152" cy="73152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4389120"/>
            <a:ext cx="91440" cy="91440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4206240"/>
            <a:ext cx="82296" cy="82296"/>
          </a:xfrm>
          <a:prstGeom prst="ellipse">
            <a:avLst/>
          </a:prstGeom>
          <a:solidFill>
            <a:srgbClr val="00C9FF">
              <a:alpha val="60000"/>
            </a:srgbClr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57200"/>
            <a:ext cx="1554480" cy="1554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1051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IN CLOUD COMPUTING  ·  MR AJAYI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Cloud</a:t>
            </a:r>
            <a:endParaRPr lang="en-US" sz="5800" dirty="0"/>
          </a:p>
        </p:txBody>
      </p:sp>
      <p:sp>
        <p:nvSpPr>
          <p:cNvPr id="17" name="Text 14"/>
          <p:cNvSpPr/>
          <p:nvPr/>
        </p:nvSpPr>
        <p:spPr>
          <a:xfrm>
            <a:off x="54864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System</a:t>
            </a:r>
            <a:endParaRPr lang="en-US" sz="5000" dirty="0"/>
          </a:p>
        </p:txBody>
      </p:sp>
      <p:sp>
        <p:nvSpPr>
          <p:cNvPr id="18" name="Text 15"/>
          <p:cNvSpPr/>
          <p:nvPr/>
        </p:nvSpPr>
        <p:spPr>
          <a:xfrm>
            <a:off x="54864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Designing and deploying a production-grade AWS architecture from scratch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498848"/>
            <a:ext cx="54864" cy="31089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4348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presented by Abdoul Malick LAWAL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46634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live 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828800"/>
            <a:ext cx="3657600" cy="3657600"/>
          </a:xfrm>
          <a:prstGeom prst="ellipse">
            <a:avLst/>
          </a:prstGeom>
          <a:solidFill>
            <a:srgbClr val="065A8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114800"/>
            <a:ext cx="2743200" cy="2743200"/>
          </a:xfrm>
          <a:prstGeom prst="ellipse">
            <a:avLst/>
          </a:prstGeom>
          <a:solidFill>
            <a:srgbClr val="1C7293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infrastructure falls short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applications demand more than what on-premise servers can provide.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965960"/>
            <a:ext cx="73152" cy="2331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167128"/>
            <a:ext cx="640080" cy="64008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0428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Scalability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3337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On-premise servers cannot scale on demand. Traffic spikes cause performance bottlenecks, downtime, and lost users — while idle hardware wastes resources during quiet periods.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96596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37560" y="1965960"/>
            <a:ext cx="73152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0" y="2167128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30428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11880" y="3337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centralized identity management, systems expose hardcoded credentials, weak access controls, and unauditable actions — leading to data breaches and compliance failures.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196596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1965960"/>
            <a:ext cx="73152" cy="2331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7"/>
          <p:cNvSpPr/>
          <p:nvPr/>
        </p:nvSpPr>
        <p:spPr>
          <a:xfrm>
            <a:off x="6492240" y="2167128"/>
            <a:ext cx="640080" cy="64008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4652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46520" y="3337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storage is expensive to scale, fragile against hardware failure, and not globally accessible. A single disk failure can destroy years of data without proper redundancy.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2920" y="4773168"/>
            <a:ext cx="54864" cy="310896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4736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solution: </a:t>
            </a:r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architecture that scales, secures, and stores by design.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286000"/>
            <a:ext cx="4114800" cy="4114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Eight AWS services working together to form one complete cloud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0332" y="169164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0332" y="169164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" y="1856232"/>
            <a:ext cx="411480" cy="41148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9248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4692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7492" y="23500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Identity &amp; access management. Roles, policies, MFA enforced.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00884" y="169164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00884" y="1691640"/>
            <a:ext cx="20116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2638044" y="1856232"/>
            <a:ext cx="411480" cy="41148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92481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95244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638044" y="23500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Isolated network. Public + private subnets, IGW, NAT Gateway.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31436" y="169164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31436" y="1691640"/>
            <a:ext cx="2011680" cy="457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768596" y="1856232"/>
            <a:ext cx="411480" cy="411480"/>
          </a:xfrm>
          <a:prstGeom prst="ellipse">
            <a:avLst/>
          </a:prstGeom>
          <a:solidFill>
            <a:srgbClr val="00C9FF">
              <a:alpha val="20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192481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25796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68596" y="23500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t2.micro backend. Apache + PHP serving the REST API.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61988" y="169164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61988" y="1691640"/>
            <a:ext cx="20116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2"/>
          <p:cNvSpPr/>
          <p:nvPr/>
        </p:nvSpPr>
        <p:spPr>
          <a:xfrm>
            <a:off x="6899148" y="1856232"/>
            <a:ext cx="411480" cy="41148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924812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56348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899148" y="23500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MySQL 8.4 in a private subnet. Encrypted at rest.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70332" y="315468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70332" y="31546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27"/>
          <p:cNvSpPr/>
          <p:nvPr/>
        </p:nvSpPr>
        <p:spPr>
          <a:xfrm>
            <a:off x="507492" y="3319272"/>
            <a:ext cx="411480" cy="4114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387852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4692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507492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Object storage for the static frontend. Versioning enabled.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500884" y="315468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5EE0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2500884" y="3154680"/>
            <a:ext cx="2011680" cy="45720"/>
          </a:xfrm>
          <a:prstGeom prst="rect">
            <a:avLst/>
          </a:prstGeom>
          <a:solidFill>
            <a:srgbClr val="5EE0FF"/>
          </a:solidFill>
          <a:ln/>
        </p:spPr>
      </p:sp>
      <p:sp>
        <p:nvSpPr>
          <p:cNvPr id="39" name="Shape 32"/>
          <p:cNvSpPr/>
          <p:nvPr/>
        </p:nvSpPr>
        <p:spPr>
          <a:xfrm>
            <a:off x="2638044" y="3319272"/>
            <a:ext cx="411480" cy="411480"/>
          </a:xfrm>
          <a:prstGeom prst="ellipse">
            <a:avLst/>
          </a:prstGeom>
          <a:solidFill>
            <a:srgbClr val="5EE0FF">
              <a:alpha val="20000"/>
            </a:srgbClr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624" y="3387852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095244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2638044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CDN with HTTPS, edge caching, permanent URL.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4631436" y="315468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631436" y="3154680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5" name="Shape 37"/>
          <p:cNvSpPr/>
          <p:nvPr/>
        </p:nvSpPr>
        <p:spPr>
          <a:xfrm>
            <a:off x="4768596" y="3319272"/>
            <a:ext cx="411480" cy="41148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76" y="3387852"/>
            <a:ext cx="274320" cy="27432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25796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4768596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Metrics, alarms, dashboards, log streams from every layer.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6761988" y="3154680"/>
            <a:ext cx="2011680" cy="1325880"/>
          </a:xfrm>
          <a:prstGeom prst="rect">
            <a:avLst/>
          </a:prstGeom>
          <a:solidFill>
            <a:srgbClr val="0D213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761988" y="315468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Shape 42"/>
          <p:cNvSpPr/>
          <p:nvPr/>
        </p:nvSpPr>
        <p:spPr>
          <a:xfrm>
            <a:off x="6899148" y="3319272"/>
            <a:ext cx="411480" cy="41148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3387852"/>
            <a:ext cx="274320" cy="274320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356348" y="3337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54" name="Text 44"/>
          <p:cNvSpPr/>
          <p:nvPr/>
        </p:nvSpPr>
        <p:spPr>
          <a:xfrm>
            <a:off x="6899148" y="38130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 vault. EC2 retrieves credentials via IAM role.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502920" y="4736592"/>
            <a:ext cx="54864" cy="2011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56" name="Text 46"/>
          <p:cNvSpPr/>
          <p:nvPr/>
        </p:nvSpPr>
        <p:spPr>
          <a:xfrm>
            <a:off x="713232" y="4690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Plus supporting services: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(audit), SNS (alerts), KMS (encryption keys).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3200400" cy="3200400"/>
          </a:xfrm>
          <a:prstGeom prst="ellipse">
            <a:avLst/>
          </a:prstGeom>
          <a:solidFill>
            <a:srgbClr val="065A82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 user's request flows through every layer of the cloud stack.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475569">
              <a:alpha val="15000"/>
            </a:srgbClr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508760"/>
            <a:ext cx="6675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29968" y="1604772"/>
            <a:ext cx="310896" cy="310896"/>
          </a:xfrm>
          <a:prstGeom prst="ellipse">
            <a:avLst/>
          </a:prstGeom>
          <a:solidFill>
            <a:srgbClr val="475569">
              <a:alpha val="2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655064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423160" y="1563624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23160" y="176479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 request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239512" y="2029968"/>
            <a:ext cx="3657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1"/>
          <p:cNvSpPr/>
          <p:nvPr/>
        </p:nvSpPr>
        <p:spPr>
          <a:xfrm>
            <a:off x="5175504" y="2029968"/>
            <a:ext cx="16459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176272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5EE0FF">
              <a:alpha val="15000"/>
            </a:srgbClr>
          </a:solidFill>
          <a:ln w="6350">
            <a:solidFill>
              <a:srgbClr val="5EE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176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E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920240" y="2176272"/>
            <a:ext cx="6675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029968" y="2272284"/>
            <a:ext cx="310896" cy="310896"/>
          </a:xfrm>
          <a:prstGeom prst="ellipse">
            <a:avLst/>
          </a:prstGeom>
          <a:solidFill>
            <a:srgbClr val="5EE0FF">
              <a:alpha val="20000"/>
            </a:srgbClr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32257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423160" y="2231136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23160" y="2432304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CDN  ·  HTTPS  ·  edge cache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239512" y="2697480"/>
            <a:ext cx="3657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19"/>
          <p:cNvSpPr/>
          <p:nvPr/>
        </p:nvSpPr>
        <p:spPr>
          <a:xfrm>
            <a:off x="5175504" y="2697480"/>
            <a:ext cx="16459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24" name="Shape 20"/>
          <p:cNvSpPr/>
          <p:nvPr/>
        </p:nvSpPr>
        <p:spPr>
          <a:xfrm>
            <a:off x="548640" y="2843784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1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28437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920240" y="2843784"/>
            <a:ext cx="6675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029968" y="2939796"/>
            <a:ext cx="310896" cy="310896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2990088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423160" y="2898648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2423160" y="3099816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HTML / CSS / JavaScript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239512" y="3364992"/>
            <a:ext cx="3657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27"/>
          <p:cNvSpPr/>
          <p:nvPr/>
        </p:nvSpPr>
        <p:spPr>
          <a:xfrm>
            <a:off x="5175504" y="3364992"/>
            <a:ext cx="16459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33" name="Shape 28"/>
          <p:cNvSpPr/>
          <p:nvPr/>
        </p:nvSpPr>
        <p:spPr>
          <a:xfrm>
            <a:off x="548640" y="3511296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0C9FF">
              <a:alpha val="15000"/>
            </a:srgbClr>
          </a:solidFill>
          <a:ln w="6350">
            <a:solidFill>
              <a:srgbClr val="00C9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48640" y="35112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1920240" y="3511296"/>
            <a:ext cx="32552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2029968" y="3607308"/>
            <a:ext cx="310896" cy="310896"/>
          </a:xfrm>
          <a:prstGeom prst="ellipse">
            <a:avLst/>
          </a:prstGeom>
          <a:solidFill>
            <a:srgbClr val="00C9FF">
              <a:alpha val="20000"/>
            </a:srgbClr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3657600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2423160" y="3566160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Apache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2423160" y="3767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PHP REST API  ·  public subnet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340096" y="3511296"/>
            <a:ext cx="32552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5449824" y="3607308"/>
            <a:ext cx="310896" cy="310896"/>
          </a:xfrm>
          <a:prstGeom prst="ellipse">
            <a:avLst/>
          </a:prstGeom>
          <a:solidFill>
            <a:srgbClr val="00C9FF">
              <a:alpha val="20000"/>
            </a:srgbClr>
          </a:solidFill>
          <a:ln/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0116" y="3657600"/>
            <a:ext cx="201168" cy="20116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843016" y="3566160"/>
            <a:ext cx="2660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843016" y="3767328"/>
            <a:ext cx="2660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 credentials  ·  IAM role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5239512" y="4032504"/>
            <a:ext cx="3657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6" name="Shape 39"/>
          <p:cNvSpPr/>
          <p:nvPr/>
        </p:nvSpPr>
        <p:spPr>
          <a:xfrm>
            <a:off x="5175504" y="4032504"/>
            <a:ext cx="164592" cy="128016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47" name="Shape 40"/>
          <p:cNvSpPr/>
          <p:nvPr/>
        </p:nvSpPr>
        <p:spPr>
          <a:xfrm>
            <a:off x="548640" y="4178808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48640" y="41788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1920240" y="4178808"/>
            <a:ext cx="6675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2029968" y="4274820"/>
            <a:ext cx="310896" cy="310896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0260" y="4325112"/>
            <a:ext cx="201168" cy="20116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2423160" y="4233672"/>
            <a:ext cx="6080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MySQL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2423160" y="4434840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appdb  ·  private subnet  ·  encrypted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502920" y="4828032"/>
            <a:ext cx="54864" cy="201168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55" name="Text 47"/>
          <p:cNvSpPr/>
          <p:nvPr/>
        </p:nvSpPr>
        <p:spPr>
          <a:xfrm>
            <a:off x="713232" y="47731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Request flow: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CloudFront → S3 → fetch() → EC2 → Secrets Manager → RDS → JSON → browser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Setup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Securing the foundation before launching any 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Locked the root account.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admin-user created with AdministratorAccess, MFA enforced on both root and admin.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Built ec2-project-role.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scoped policies: S3 read, CloudWatch agent, custom ec2-s3-scoped-policy for the project bucket.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Applied least-privilege.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wildcard permissions. Every policy scoped to the minimum required action and resource.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Set a billing safety net.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budget alert at $10 with email notification. Status: Healthy.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identity layer in place before any server, network, or database was launched.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1/admin-user-mfa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admin-user · Console access enabled with MFA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IAM → Users → admin-user · AdministratorAccess attached directly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1/ec2-role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ec2-project-role · 3 policies attached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AmazonS3ReadOnlyAccess · CloudWatchAgentServerPolicy · ec2-s3-scoped-policy (customer managed)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0B981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Setup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1/budget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Budget · Status: Healthy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Billing alert at $10 threshold — protection against unexpected charges during the build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the isolated network before launching any resource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cloud-project-vpc.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CIDR 10.0.0.0/16. Fully isolated from other AWS accounts and default infrastructure.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Public + private subnet architecture.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subnets across 2 AZs: public-1a/1b for EC2, private-1a/1b for RDS. DB never in a public subnet.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Internet Gateway + NAT Gateway.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IGW for two-way public internet. NAT in public-subnet-1a (with EIP) for private outbound-only access.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Route tables configured.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Public: 0.0.0.0/0 → IGW. Private: 0.0.0.0/0 → NAT. Local 10.0.0.0/16 traffic stays inside VPC.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services are reachable. Private data resources are invisible from the internet — enforced by routing design.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2/vpc-created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cloud-project-vpc · CIDR 10.0.0.0/16 · State: Available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VPC successfully created — the isolated network container for all project resources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2/vpc-resource-map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map · 4 subnets · 3 route tables · IGW + NAT Gateway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network components deployed and connected: public/private subnets across us-east-1a and us-east-1b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Stateful virtual firewalls controlling traffic to every resource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ec2-sg.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Inbound: HTTP 80 (all), HTTPS 443 (all), SSH 22 (admin IP 102.67.234.219/32 only). 3 rules.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rds-sg.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Inbound: MySQL 3306, source = ec2-sg only. Security group chaining — not IP-based.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SG chaining is the key pattern.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 if EC2's IP changes, only instances wearing ec2-sg can reach the database. No IP to maintain.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S3 · CloudFront · IAM need no SGs.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services outside the VPC. They use bucket policies, OAC, and identity policies respectively.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reaches EC2 on 80/443. EC2 reaches RDS on 3306. Internet has zero path to RDS on any port.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3/ec2-sg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ec2-sg · 3 inbound rules · SSH locked to admin IP only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 80 + HTTPS 443 open to 0.0.0.0/0 · SSH 22 restricted to 102.67.234.219/32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3/rds-sg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rds-sg · MySQL port 3306 · Source = ec2-sg (not an IP)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group chaining: only EC2 instances wearing ec2-sg can reach the database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MySQL in the private subnet — never publicly accessible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rds-subnet-group.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Locked RDS to private-subnet-1a and private-subnet-1b across us-east-1a and us-east-1b.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Launched cloud-project-db.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 8.4 · db.t4g.micro · 20GiB gp2 · Public access: No · Security group: rds-sg.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Database name: appdb.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Logical database inside the instance. EC2 connects to the instance endpoint and queries appdb.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Credentials stored in Secrets Manager.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rds/cloud-project/credentials — encrypted, retrieved by EC2 via IAM role at runtime. Zero hardcoded secrets.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is live, private, encrypted at rest, and reachable only by EC2 through the security group chain.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4/subnet-group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rds-subnet-group · private-subnet-1a (10.0.3.0/24) + private-subnet-1b (10.0.4.0/24)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RDS locked to private subnets only — cannot be launched into a public subnet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4/rds-available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cloud-project-db · Status: Available · MySQL Community · db.t4g.micro · us-east-1a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Internet access gateway: Disabled · IAM authentication: Disabled · Connectivity via rds-sg only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 · 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33272"/>
            <a:ext cx="8321040" cy="3574131"/>
          </a:xfrm>
          <a:prstGeom prst="rect">
            <a:avLst/>
          </a:prstGeom>
          <a:solidFill>
            <a:srgbClr val="0D2137"/>
          </a:solidFill>
          <a:ln w="9525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pptx_build/shots/phase4/secrets-stored-cr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46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rds/cloud-project/credentials · Stored in AWS Secrets Manager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478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Encrypted with aws/secretsmanager key · Retrieved by EC2 via ec2-project-role at runtime — no hardcoded passwords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00C9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Backend Server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Virtual server running the API, connecting EC2 to RDS through the private network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Launched cloud-project-backend.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t2.micro · Amazon Linux 2023 · public-subnet-1a · ec2-sg · IAM role: ec2-project-role attached.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Installed Apache + PHP 8.5.5.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server active and running. PHP with pdo_mysql and mysqlnd extensions. SELinux network permissions enabled.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Connected to RDS from EC2.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 client connected to cloud-project-db endpoint. appdb confirmed reachable. Products table created and seeded with 3 rows.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Deployed PHP app with Secrets Manager.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index.php and api.php retrieve credentials via AWS SDK — ec2-project-role authenticates automatically. Zero hardcoded passwords.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 running Apache + PHP, serving data from RDS via a credential chain that never exposes a password in code.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00C9FF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</a:rPr>
              <a:t>PHASE 05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EC2 Backend Server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pic>
        <p:nvPicPr>
          <p:cNvPr id="6" name="Screenshot" descr="image-20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EC2 instance · Running · Public IP 3.237.70.215 · IAM role: ec2-project-role attached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EC2 console → cloud-project-backend · t2.micro · public-subnet-1a · Status checks: 2/2 passed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00C9FF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</a:rPr>
              <a:t>PHASE 05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EC2 Backend Server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pic>
        <p:nvPicPr>
          <p:cNvPr id="6" name="Screenshot" descr="image-21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SSH terminal · ec2-user connected · Amazon Linux 2023 · Apache active (running)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ssh -i cloud-project-key.pem ec2-user@3.237.70.215 · pwd /home/ec2-user · Amazon Linux 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00C9FF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</a:rPr>
              <a:t>PHASE 05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EC2 Backend Server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pic>
        <p:nvPicPr>
          <p:cNvPr id="6" name="Screenshot" descr="image-22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Live browser · http://3.237.70.215/index.php · Products from RDS · Secrets Manager auth confirmed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EC2 Instance: Running t2.micro · Web Server: Apache PHP 8.5.5 · Auth: Secrets Manager → IAM → RDS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Frontend Hosting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frontend separated from the backend — served from object storage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cloud-project-front-mike.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access unblocked · versioning enabled · SSE-S3 encryption · PublicReadGetObject bucket policy.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Enabled static website hosting.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Index document: index.html · Error document: error.html · Website endpoint generated.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Built and uploaded the frontend.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HTML/CSS/JS page with architecture cards for all 6 services and a live data section. Uploaded via S3 console.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api.php on EC2.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Dedicated JSON API endpoint with CORS headers. Calls Secrets Manager → RDS → returns product array to browser fetch().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fully separated. S3 serves static files at near-zero cost. EC2 handles only actual data processing.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</a:rPr>
              <a:t>PHASE 06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S3 Frontend Hosting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6" name="Screenshot" descr="image-s6-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S3 upload succeeded · index.html + error.html · 2 files · 7.0 KB · 100%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Destination: s3://cloud-project-front-mike · 2 files succeeded · 0 failed · Static frontend deployed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</a:rPr>
              <a:t>PHASE 06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S3 Frontend Hosting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6" name="Screenshot" descr="image-s6-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S3 website endpoint loading · http://cloud-project-front-mike.s3-website-us-east-1.amazonaws.com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Full Cloud Infrastructure System page · IAM · VPC · EC2 · S3 · RDS · CloudFront service cards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7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edge delivery with HTTPS, caching, and a permanent URL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077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Created cloud-project-distribution.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Origin: S3 website endpoint · HTTP → HTTPS redirect · Free plan · Domain: dlwztrz85p46c.cloudfront.net.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HTTPS auto-provisioned.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TLS certificate issued by AWS for *.cloudfront.net. Viewer protocol: Redirect HTTP to HTTPS. HTTP/2 supported.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12464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Edge caching demonstrated live.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x-cache: Miss from cloudfront on first load. x-cache: Hit from cloudfront on reload. Load time dropped measurably.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CORS locked to CloudFront domain. 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api.php updated: Access-Control-Allow-Origin set to https://dlwztrz85p46c.cloudfront.net. S3 endpoint now blocked — correct.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Outcome:  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served over HTTPS from a permanent URL with global edge caching. S3 endpoint inaccessible directly — CloudFront is the only door.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5CF6"/>
                </a:solidFill>
                <a:latin typeface="Calibri" pitchFamily="34" charset="0"/>
              </a:rPr>
              <a:t>PHASE 07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CloudFront CDN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6" name="Screenshot" descr="image-cf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CloudFront distribution · cloud-project-distribution · Successfully created · dlwztrz85p46c.cloudfront.net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Free plan ($0/month) · Price class: Use all edge locations · Deploying · Origin: S3 website endpoint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5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ecor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EF4444">
              <a:alpha val="8000"/>
            </a:srgbClr>
          </a:solidFill>
          <a:ln/>
        </p:spPr>
      </p:sp>
      <p:sp>
        <p:nvSpPr>
          <p:cNvPr id="3" name="Decor2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1C7293">
              <a:alpha val="7000"/>
            </a:srgbClr>
          </a:solidFill>
          <a:ln/>
        </p:spPr>
      </p:sp>
      <p:sp>
        <p:nvSpPr>
          <p:cNvPr id="4" name="Label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IMPLEMENTATION</a:t>
            </a:r>
          </a:p>
        </p:txBody>
      </p:sp>
      <p:sp>
        <p:nvSpPr>
          <p:cNvPr id="5" name="PhaseNum"/>
          <p:cNvSpPr/>
          <p:nvPr/>
        </p:nvSpPr>
        <p:spPr>
          <a:xfrm>
            <a:off x="502920" y="5943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EF4444"/>
                </a:solidFill>
                <a:latin typeface="Calibri" pitchFamily="34" charset="0"/>
              </a:rPr>
              <a:t>08</a:t>
            </a:r>
          </a:p>
        </p:txBody>
      </p:sp>
      <p:sp>
        <p:nvSpPr>
          <p:cNvPr id="6" name="Title"/>
          <p:cNvSpPr/>
          <p:nvPr/>
        </p:nvSpPr>
        <p:spPr>
          <a:xfrm>
            <a:off x="548640" y="18470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7" name="Subtitle"/>
          <p:cNvSpPr/>
          <p:nvPr/>
        </p:nvSpPr>
        <p:spPr>
          <a:xfrm>
            <a:off x="548640" y="2359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 Light" pitchFamily="34" charset="0"/>
              </a:rPr>
              <a:t>Full observability across every layer of the infrastructure</a:t>
            </a:r>
          </a:p>
        </p:txBody>
      </p:sp>
      <p:sp>
        <p:nvSpPr>
          <p:cNvPr id="8" name="Divider"/>
          <p:cNvSpPr/>
          <p:nvPr/>
        </p:nvSpPr>
        <p:spPr>
          <a:xfrm>
            <a:off x="548640" y="2706624"/>
            <a:ext cx="804672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10" name="Bullet0"/>
          <p:cNvSpPr/>
          <p:nvPr/>
        </p:nvSpPr>
        <p:spPr>
          <a:xfrm>
            <a:off x="804672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</a:rPr>
              <a:t xml:space="preserve">Built cloud-project-dashboard.  </a:t>
            </a:r>
            <a:r>
              <a:rPr lang="en-US" sz="1200" dirty="0">
                <a:solidFill>
                  <a:srgbClr val="94A3B8"/>
                </a:solidFill>
                <a:latin typeface="Calibri Light" pitchFamily="34" charset="0"/>
              </a:rPr>
              <a:t>4 widgets: EC2 CPU, EC2 NetworkIn/Out, RDS CPUUtilization, RDS DatabaseConnections. Real data visible.</a:t>
            </a:r>
          </a:p>
        </p:txBody>
      </p:sp>
      <p:sp>
        <p:nvSpPr>
          <p:cNvPr id="11" name="Dot0"/>
          <p:cNvSpPr/>
          <p:nvPr/>
        </p:nvSpPr>
        <p:spPr>
          <a:xfrm>
            <a:off x="548640" y="2907792"/>
            <a:ext cx="182880" cy="182880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2" name="Bullet1"/>
          <p:cNvSpPr/>
          <p:nvPr/>
        </p:nvSpPr>
        <p:spPr>
          <a:xfrm>
            <a:off x="804672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</a:rPr>
              <a:t xml:space="preserve">Created EC2-High-CPU-Alarm.  </a:t>
            </a:r>
            <a:r>
              <a:rPr lang="en-US" sz="1200" dirty="0">
                <a:solidFill>
                  <a:srgbClr val="94A3B8"/>
                </a:solidFill>
                <a:latin typeface="Calibri Light" pitchFamily="34" charset="0"/>
              </a:rPr>
              <a:t>CPUUtilization &gt; 80% for 1 datapoint in 5 minutes → SNS email alert. Actions enabled. Metric: Average.</a:t>
            </a:r>
          </a:p>
        </p:txBody>
      </p:sp>
      <p:sp>
        <p:nvSpPr>
          <p:cNvPr id="13" name="Dot1"/>
          <p:cNvSpPr/>
          <p:nvPr/>
        </p:nvSpPr>
        <p:spPr>
          <a:xfrm>
            <a:off x="548640" y="3310128"/>
            <a:ext cx="182880" cy="182880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4" name="Bullet2"/>
          <p:cNvSpPr/>
          <p:nvPr/>
        </p:nvSpPr>
        <p:spPr>
          <a:xfrm>
            <a:off x="804672" y="3639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</a:rPr>
              <a:t xml:space="preserve">Enabled CloudTrail.  </a:t>
            </a:r>
            <a:r>
              <a:rPr lang="en-US" sz="1200" dirty="0">
                <a:solidFill>
                  <a:srgbClr val="94A3B8"/>
                </a:solidFill>
                <a:latin typeface="Calibri Light" pitchFamily="34" charset="0"/>
              </a:rPr>
              <a:t>cloud-project-trail: multi-region, logs to S3, CloudWatch Logs integration. Every API call audited. GetSecretValue events visible.</a:t>
            </a:r>
          </a:p>
        </p:txBody>
      </p:sp>
      <p:sp>
        <p:nvSpPr>
          <p:cNvPr id="15" name="Dot2"/>
          <p:cNvSpPr/>
          <p:nvPr/>
        </p:nvSpPr>
        <p:spPr>
          <a:xfrm>
            <a:off x="548640" y="3712464"/>
            <a:ext cx="182880" cy="182880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16" name="Bullet3"/>
          <p:cNvSpPr/>
          <p:nvPr/>
        </p:nvSpPr>
        <p:spPr>
          <a:xfrm>
            <a:off x="804672" y="40416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</a:rPr>
              <a:t xml:space="preserve">Deployed CloudWatch Agent.  </a:t>
            </a:r>
            <a:r>
              <a:rPr lang="en-US" sz="1200" dirty="0">
                <a:solidFill>
                  <a:srgbClr val="94A3B8"/>
                </a:solidFill>
                <a:latin typeface="Calibri Light" pitchFamily="34" charset="0"/>
              </a:rPr>
              <a:t>Apache access_log and error_log streaming to cloud-project-apache-access log group. Every HTTP request logged.</a:t>
            </a:r>
          </a:p>
        </p:txBody>
      </p:sp>
      <p:sp>
        <p:nvSpPr>
          <p:cNvPr id="17" name="Dot3"/>
          <p:cNvSpPr/>
          <p:nvPr/>
        </p:nvSpPr>
        <p:spPr>
          <a:xfrm>
            <a:off x="548640" y="4114800"/>
            <a:ext cx="182880" cy="182880"/>
          </a:xfrm>
          <a:prstGeom prst="ellipse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20" name="Outcome"/>
          <p:cNvSpPr/>
          <p:nvPr/>
        </p:nvSpPr>
        <p:spPr>
          <a:xfrm>
            <a:off x="749808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 xml:space="preserve">Outcome:  </a:t>
            </a:r>
            <a:r>
              <a:rPr lang="en-US" sz="1200" i="1" dirty="0">
                <a:solidFill>
                  <a:srgbClr val="94A3B8"/>
                </a:solidFill>
                <a:latin typeface="Calibri" pitchFamily="34" charset="0"/>
              </a:rPr>
              <a:t>Dashboard shows infrastructure health. Alarms alert proactively. CloudTrail audits every action. Logs show application behavior.</a:t>
            </a:r>
          </a:p>
        </p:txBody>
      </p:sp>
      <p:sp>
        <p:nvSpPr>
          <p:cNvPr id="21" name="OutcomeDot"/>
          <p:cNvSpPr/>
          <p:nvPr/>
        </p:nvSpPr>
        <p:spPr>
          <a:xfrm>
            <a:off x="530352" y="4773168"/>
            <a:ext cx="64008" cy="274320"/>
          </a:xfrm>
          <a:prstGeom prst="rect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5CF6"/>
                </a:solidFill>
                <a:latin typeface="Calibri" pitchFamily="34" charset="0"/>
              </a:rPr>
              <a:t>PHASE 07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CloudFront CDN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6" name="Screenshot" descr="image-cf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Browser at https://dlwztrz85p46c.cloudfront.net · HTTPS · Full Cloud Infrastructure System loaded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CloudFront → S3 → fetch() → EC2 api.php → Secrets Manager → RDS → JSON → browser renders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PHASE 08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pic>
        <p:nvPicPr>
          <p:cNvPr id="6" name="Screenshot" descr="image-cw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cloud-project-dashboard · EC2 CPU + Network Traffic + RDS CPU + RDS Active Connections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EC2 Network Traffic: NetworkIn/NetworkOut spikes visible · EC2 CPU 0.833% · 4 widgets all live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PHASE 08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pic>
        <p:nvPicPr>
          <p:cNvPr id="6" name="Screenshot" descr="image-cw-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CloudTrail Event History · GetSecretValue · 21 audit events · Caller: i-01164a1cf9f64ee32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Every time EC2 retrieved DB credentials from Secrets Manager — timestamped · attributed · auditable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PHASE 08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pic>
        <p:nvPicPr>
          <p:cNvPr id="6" name="Screenshot" descr="image-cw-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CloudWatch Logs · cloud-project-apache-access · i-01164a1cf9f64ee32 · Live Apache log stream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Every HTTP request to EC2 captured: timestamp · client IP · URL · response code · bytes transferred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18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315200" y="-1828800"/>
            <a:ext cx="4114800" cy="4114800"/>
          </a:xfrm>
          <a:prstGeom prst="ellipse">
            <a:avLst/>
          </a:prstGeom>
          <a:solidFill>
            <a:srgbClr val="065A8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1C7293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layers of security applied at every tier of the stack.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2286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0020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60020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011680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3816" y="1984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MFA on all accounts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86000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" y="2258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Least-privilege IAM roles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560320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" y="2532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hardcoded credentials — Secrets Manager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46120" y="160020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46120" y="1600200"/>
            <a:ext cx="265176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4"/>
          <p:cNvSpPr/>
          <p:nvPr/>
        </p:nvSpPr>
        <p:spPr>
          <a:xfrm>
            <a:off x="338328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011680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57016" y="1984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Public/private subnet isolation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286000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57016" y="2258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IGW for EC2 · NAT for RDS (outbound only)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560320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57016" y="2532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RDS has no public IP or DNS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989320" y="160020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989320" y="160020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0"/>
          <p:cNvSpPr/>
          <p:nvPr/>
        </p:nvSpPr>
        <p:spPr>
          <a:xfrm>
            <a:off x="612648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3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9048" y="2011680"/>
            <a:ext cx="146304" cy="14630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00216" y="1984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ec2-sg: HTTP/HTTPS open · SSH admin-IP only</a:t>
            </a:r>
            <a:endParaRPr lang="en-US" sz="9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9048" y="2286000"/>
            <a:ext cx="146304" cy="14630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300216" y="2258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rds-sg: port 3306 from ec2-sg only</a:t>
            </a:r>
            <a:endParaRPr lang="en-US" sz="9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9048" y="2560320"/>
            <a:ext cx="146304" cy="14630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300216" y="2532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group chaining — not IP-based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502920" y="301752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502920" y="301752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26"/>
          <p:cNvSpPr/>
          <p:nvPr/>
        </p:nvSpPr>
        <p:spPr>
          <a:xfrm>
            <a:off x="64008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3429000"/>
            <a:ext cx="146304" cy="14630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13816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RDS encryption at rest (AWS KMS)</a:t>
            </a:r>
            <a:endParaRPr lang="en-US" sz="95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" y="3703320"/>
            <a:ext cx="146304" cy="146304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13816" y="3675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CloudFront enforces HTTPS — HTTP redirected</a:t>
            </a:r>
            <a:endParaRPr lang="en-US" sz="9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3977640"/>
            <a:ext cx="146304" cy="14630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13816" y="3950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S3 server-side encryption (SSE-S3)</a:t>
            </a:r>
            <a:endParaRPr lang="en-US" sz="950" dirty="0"/>
          </a:p>
        </p:txBody>
      </p:sp>
      <p:sp>
        <p:nvSpPr>
          <p:cNvPr id="44" name="Shape 30"/>
          <p:cNvSpPr/>
          <p:nvPr/>
        </p:nvSpPr>
        <p:spPr>
          <a:xfrm>
            <a:off x="3246120" y="301752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3246120" y="3017520"/>
            <a:ext cx="265176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6" name="Text 32"/>
          <p:cNvSpPr/>
          <p:nvPr/>
        </p:nvSpPr>
        <p:spPr>
          <a:xfrm>
            <a:off x="3383280" y="3090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5848" y="3429000"/>
            <a:ext cx="146304" cy="146304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3557016" y="34015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CloudTrail: every API call logged</a:t>
            </a:r>
            <a:endParaRPr lang="en-US" sz="95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5848" y="3703320"/>
            <a:ext cx="146304" cy="146304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3557016" y="36758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GetSecretValue events attributed to EC2 instance</a:t>
            </a:r>
            <a:endParaRPr lang="en-US" sz="95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5848" y="3977640"/>
            <a:ext cx="146304" cy="146304"/>
          </a:xfrm>
          <a:prstGeom prst="rect">
            <a:avLst/>
          </a:prstGeom>
        </p:spPr>
      </p:pic>
      <p:sp>
        <p:nvSpPr>
          <p:cNvPr id="52" name="Text 35"/>
          <p:cNvSpPr/>
          <p:nvPr/>
        </p:nvSpPr>
        <p:spPr>
          <a:xfrm>
            <a:off x="3557016" y="39502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CloudWatch Logs: all HTTP requests captured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emoLabel"/>
          <p:cNvSpPr/>
          <p:nvPr/>
        </p:nvSpPr>
        <p:spPr>
          <a:xfrm>
            <a:off x="457200" y="220000"/>
            <a:ext cx="35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</a:rPr>
              <a:t>DEMONSTRATION</a:t>
            </a:r>
          </a:p>
        </p:txBody>
      </p:sp>
      <p:sp>
        <p:nvSpPr>
          <p:cNvPr id="3" name="DemoTitle"/>
          <p:cNvSpPr/>
          <p:nvPr/>
        </p:nvSpPr>
        <p:spPr>
          <a:xfrm>
            <a:off x="457200" y="430000"/>
            <a:ext cx="5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Live demo  —  7 Acts</a:t>
            </a:r>
          </a:p>
        </p:txBody>
      </p:sp>
      <p:sp>
        <p:nvSpPr>
          <p:cNvPr id="4" name="LiveUrl"/>
          <p:cNvSpPr/>
          <p:nvPr/>
        </p:nvSpPr>
        <p:spPr>
          <a:xfrm>
            <a:off x="6100000" y="430000"/>
            <a:ext cx="2700000" cy="400000"/>
          </a:xfrm>
          <a:prstGeom prst="roundRect">
            <a:avLst>
              <a:gd name="adj" fmla="val 30000"/>
            </a:avLst>
          </a:prstGeom>
          <a:solidFill>
            <a:srgbClr val="00C9FF">
              <a:alpha val="10000"/>
            </a:srgbClr>
          </a:solidFill>
          <a:ln w="19050">
            <a:solidFill>
              <a:srgbClr val="00C9FF">
                <a:alpha val="25000"/>
              </a:srgbClr>
            </a:solidFill>
          </a:ln>
        </p:spPr>
        <p:txBody>
          <a:bodyPr wrap="square" lIns="91440" tIns="30000" rIns="91440" bIns="0" rtlCol="0" anchor="ctr"/>
          <a:lstStyle/>
          <a:p>
            <a:pPr indent="0" marL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 Light" pitchFamily="34" charset="0"/>
              </a:rPr>
              <a:t>Live URL</a:t>
            </a:r>
          </a:p>
          <a:p>
            <a:pPr indent="0" marL="0" algn="ctr">
              <a:buNone/>
            </a:pPr>
            <a:r>
              <a:rPr lang="en-US" sz="900" dirty="0">
                <a:solidFill>
                  <a:srgbClr val="00C9FF"/>
                </a:solidFill>
                <a:latin typeface="Calibri" pitchFamily="34" charset="0"/>
              </a:rPr>
              <a:t>dlwztrz85p46c.cloudfront.net</a:t>
            </a:r>
          </a:p>
        </p:txBody>
      </p:sp>
      <p:sp>
        <p:nvSpPr>
          <p:cNvPr id="10" name="Card0Bg"/>
          <p:cNvSpPr/>
          <p:nvPr/>
        </p:nvSpPr>
        <p:spPr>
          <a:xfrm>
            <a:off x="457200" y="90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</a:ln>
        </p:spPr>
      </p:sp>
      <p:sp>
        <p:nvSpPr>
          <p:cNvPr id="11" name="ActNumBadge0"/>
          <p:cNvSpPr/>
          <p:nvPr/>
        </p:nvSpPr>
        <p:spPr>
          <a:xfrm>
            <a:off x="557200" y="98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</a:rPr>
              <a:t>ACT 01</a:t>
            </a:r>
          </a:p>
        </p:txBody>
      </p:sp>
      <p:sp>
        <p:nvSpPr>
          <p:cNvPr id="12" name="ActTitle0"/>
          <p:cNvSpPr/>
          <p:nvPr/>
        </p:nvSpPr>
        <p:spPr>
          <a:xfrm>
            <a:off x="957200" y="98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Identity and Security Foundation</a:t>
            </a:r>
          </a:p>
        </p:txBody>
      </p:sp>
      <p:sp>
        <p:nvSpPr>
          <p:cNvPr id="13" name="Divline0"/>
          <p:cNvSpPr/>
          <p:nvPr/>
        </p:nvSpPr>
        <p:spPr>
          <a:xfrm>
            <a:off x="557200" y="1300000"/>
            <a:ext cx="3915000" cy="100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4" name="ActDesc0"/>
          <p:cNvSpPr/>
          <p:nvPr/>
        </p:nvSpPr>
        <p:spPr>
          <a:xfrm>
            <a:off x="557200" y="134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IAM admin-user · ec2-project-role · Secrets Manager · ec2-s3-scoped-policy</a:t>
            </a:r>
          </a:p>
        </p:txBody>
      </p:sp>
      <p:sp>
        <p:nvSpPr>
          <p:cNvPr id="16" name="Card1Bg"/>
          <p:cNvSpPr/>
          <p:nvPr/>
        </p:nvSpPr>
        <p:spPr>
          <a:xfrm>
            <a:off x="457200" y="195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1C7293">
              <a:alpha val="5000"/>
            </a:srgbClr>
          </a:solidFill>
          <a:ln w="12700">
            <a:solidFill>
              <a:srgbClr val="1C7293">
                <a:alpha val="20000"/>
              </a:srgbClr>
            </a:solidFill>
          </a:ln>
        </p:spPr>
      </p:sp>
      <p:sp>
        <p:nvSpPr>
          <p:cNvPr id="17" name="ActNumBadge1"/>
          <p:cNvSpPr/>
          <p:nvPr/>
        </p:nvSpPr>
        <p:spPr>
          <a:xfrm>
            <a:off x="557200" y="203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</a:rPr>
              <a:t>ACT 02</a:t>
            </a:r>
          </a:p>
        </p:txBody>
      </p:sp>
      <p:sp>
        <p:nvSpPr>
          <p:cNvPr id="18" name="ActTitle1"/>
          <p:cNvSpPr/>
          <p:nvPr/>
        </p:nvSpPr>
        <p:spPr>
          <a:xfrm>
            <a:off x="957200" y="203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Network Architecture</a:t>
            </a:r>
          </a:p>
        </p:txBody>
      </p:sp>
      <p:sp>
        <p:nvSpPr>
          <p:cNvPr id="19" name="Divline1"/>
          <p:cNvSpPr/>
          <p:nvPr/>
        </p:nvSpPr>
        <p:spPr>
          <a:xfrm>
            <a:off x="557200" y="2350000"/>
            <a:ext cx="3915000" cy="10000"/>
          </a:xfrm>
          <a:prstGeom prst="rect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20" name="ActDesc1"/>
          <p:cNvSpPr/>
          <p:nvPr/>
        </p:nvSpPr>
        <p:spPr>
          <a:xfrm>
            <a:off x="557200" y="239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cloud-project-vpc · 4 subnets · IGW · NAT Gateway · route tables · SG chaining</a:t>
            </a:r>
          </a:p>
        </p:txBody>
      </p:sp>
      <p:sp>
        <p:nvSpPr>
          <p:cNvPr id="22" name="Card2Bg"/>
          <p:cNvSpPr/>
          <p:nvPr/>
        </p:nvSpPr>
        <p:spPr>
          <a:xfrm>
            <a:off x="457200" y="300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F59E0B">
              <a:alpha val="5000"/>
            </a:srgbClr>
          </a:solidFill>
          <a:ln w="12700">
            <a:solidFill>
              <a:srgbClr val="F59E0B">
                <a:alpha val="20000"/>
              </a:srgbClr>
            </a:solidFill>
          </a:ln>
        </p:spPr>
      </p:sp>
      <p:sp>
        <p:nvSpPr>
          <p:cNvPr id="23" name="ActNumBadge2"/>
          <p:cNvSpPr/>
          <p:nvPr/>
        </p:nvSpPr>
        <p:spPr>
          <a:xfrm>
            <a:off x="557200" y="308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</a:rPr>
              <a:t>ACT 03</a:t>
            </a:r>
          </a:p>
        </p:txBody>
      </p:sp>
      <p:sp>
        <p:nvSpPr>
          <p:cNvPr id="24" name="ActTitle2"/>
          <p:cNvSpPr/>
          <p:nvPr/>
        </p:nvSpPr>
        <p:spPr>
          <a:xfrm>
            <a:off x="957200" y="308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Database</a:t>
            </a:r>
          </a:p>
        </p:txBody>
      </p:sp>
      <p:sp>
        <p:nvSpPr>
          <p:cNvPr id="25" name="Divline2"/>
          <p:cNvSpPr/>
          <p:nvPr/>
        </p:nvSpPr>
        <p:spPr>
          <a:xfrm>
            <a:off x="557200" y="3400000"/>
            <a:ext cx="3915000" cy="100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6" name="ActDesc2"/>
          <p:cNvSpPr/>
          <p:nvPr/>
        </p:nvSpPr>
        <p:spPr>
          <a:xfrm>
            <a:off x="557200" y="344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cloud-project-db · Available · Private subnet · Public access: No · rds-sg only</a:t>
            </a:r>
          </a:p>
        </p:txBody>
      </p:sp>
      <p:sp>
        <p:nvSpPr>
          <p:cNvPr id="28" name="Card3Bg"/>
          <p:cNvSpPr/>
          <p:nvPr/>
        </p:nvSpPr>
        <p:spPr>
          <a:xfrm>
            <a:off x="457200" y="405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00C9FF">
              <a:alpha val="5000"/>
            </a:srgbClr>
          </a:solidFill>
          <a:ln w="12700">
            <a:solidFill>
              <a:srgbClr val="00C9FF">
                <a:alpha val="20000"/>
              </a:srgbClr>
            </a:solidFill>
          </a:ln>
        </p:spPr>
      </p:sp>
      <p:sp>
        <p:nvSpPr>
          <p:cNvPr id="29" name="ActNumBadge3"/>
          <p:cNvSpPr/>
          <p:nvPr/>
        </p:nvSpPr>
        <p:spPr>
          <a:xfrm>
            <a:off x="557200" y="413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00C9FF">
              <a:alpha val="20000"/>
            </a:srgbClr>
          </a:solidFill>
          <a:ln w="12700">
            <a:solidFill>
              <a:srgbClr val="00C9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</a:rPr>
              <a:t>ACT 04</a:t>
            </a:r>
          </a:p>
        </p:txBody>
      </p:sp>
      <p:sp>
        <p:nvSpPr>
          <p:cNvPr id="30" name="ActTitle3"/>
          <p:cNvSpPr/>
          <p:nvPr/>
        </p:nvSpPr>
        <p:spPr>
          <a:xfrm>
            <a:off x="957200" y="413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Live Server  (SSH)</a:t>
            </a:r>
          </a:p>
        </p:txBody>
      </p:sp>
      <p:sp>
        <p:nvSpPr>
          <p:cNvPr id="31" name="Divline3"/>
          <p:cNvSpPr/>
          <p:nvPr/>
        </p:nvSpPr>
        <p:spPr>
          <a:xfrm>
            <a:off x="557200" y="4450000"/>
            <a:ext cx="3915000" cy="10000"/>
          </a:xfrm>
          <a:prstGeom prst="rect">
            <a:avLst/>
          </a:prstGeom>
          <a:solidFill>
            <a:srgbClr val="00C9FF">
              <a:alpha val="15000"/>
            </a:srgbClr>
          </a:solidFill>
          <a:ln/>
        </p:spPr>
      </p:sp>
      <p:sp>
        <p:nvSpPr>
          <p:cNvPr id="32" name="ActDesc3"/>
          <p:cNvSpPr/>
          <p:nvPr/>
        </p:nvSpPr>
        <p:spPr>
          <a:xfrm>
            <a:off x="557200" y="449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EC2 Running · SSH live · curl /api.php · JSON returned · systemctl httpd · php -v</a:t>
            </a:r>
          </a:p>
        </p:txBody>
      </p:sp>
      <p:sp>
        <p:nvSpPr>
          <p:cNvPr id="34" name="Card4Bg"/>
          <p:cNvSpPr/>
          <p:nvPr/>
        </p:nvSpPr>
        <p:spPr>
          <a:xfrm>
            <a:off x="4800000" y="90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8B5CF6">
              <a:alpha val="5000"/>
            </a:srgbClr>
          </a:solidFill>
          <a:ln w="12700">
            <a:solidFill>
              <a:srgbClr val="8B5CF6">
                <a:alpha val="20000"/>
              </a:srgbClr>
            </a:solidFill>
          </a:ln>
        </p:spPr>
      </p:sp>
      <p:sp>
        <p:nvSpPr>
          <p:cNvPr id="35" name="ActNumBadge4"/>
          <p:cNvSpPr/>
          <p:nvPr/>
        </p:nvSpPr>
        <p:spPr>
          <a:xfrm>
            <a:off x="4900000" y="98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</a:rPr>
              <a:t>ACT 05</a:t>
            </a:r>
          </a:p>
        </p:txBody>
      </p:sp>
      <p:sp>
        <p:nvSpPr>
          <p:cNvPr id="36" name="ActTitle4"/>
          <p:cNvSpPr/>
          <p:nvPr/>
        </p:nvSpPr>
        <p:spPr>
          <a:xfrm>
            <a:off x="5300000" y="98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Frontend and CDN</a:t>
            </a:r>
          </a:p>
        </p:txBody>
      </p:sp>
      <p:sp>
        <p:nvSpPr>
          <p:cNvPr id="37" name="Divline4"/>
          <p:cNvSpPr/>
          <p:nvPr/>
        </p:nvSpPr>
        <p:spPr>
          <a:xfrm>
            <a:off x="4900000" y="1300000"/>
            <a:ext cx="3915000" cy="1000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8" name="ActDesc4"/>
          <p:cNvSpPr/>
          <p:nvPr/>
        </p:nvSpPr>
        <p:spPr>
          <a:xfrm>
            <a:off x="4900000" y="134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S3 website · CloudFront HTTPS · DevTools x-cache Miss → Hit · fetch() → RDS live</a:t>
            </a:r>
          </a:p>
        </p:txBody>
      </p:sp>
      <p:sp>
        <p:nvSpPr>
          <p:cNvPr id="40" name="Card5Bg"/>
          <p:cNvSpPr/>
          <p:nvPr/>
        </p:nvSpPr>
        <p:spPr>
          <a:xfrm>
            <a:off x="4800000" y="195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</a:ln>
        </p:spPr>
      </p:sp>
      <p:sp>
        <p:nvSpPr>
          <p:cNvPr id="41" name="ActNumBadge5"/>
          <p:cNvSpPr/>
          <p:nvPr/>
        </p:nvSpPr>
        <p:spPr>
          <a:xfrm>
            <a:off x="4900000" y="203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</a:rPr>
              <a:t>ACT 06</a:t>
            </a:r>
          </a:p>
        </p:txBody>
      </p:sp>
      <p:sp>
        <p:nvSpPr>
          <p:cNvPr id="42" name="ActTitle5"/>
          <p:cNvSpPr/>
          <p:nvPr/>
        </p:nvSpPr>
        <p:spPr>
          <a:xfrm>
            <a:off x="5300000" y="203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Monitoring and Audit</a:t>
            </a:r>
          </a:p>
        </p:txBody>
      </p:sp>
      <p:sp>
        <p:nvSpPr>
          <p:cNvPr id="43" name="Divline5"/>
          <p:cNvSpPr/>
          <p:nvPr/>
        </p:nvSpPr>
        <p:spPr>
          <a:xfrm>
            <a:off x="4900000" y="2350000"/>
            <a:ext cx="3915000" cy="100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4" name="ActDesc5"/>
          <p:cNvSpPr/>
          <p:nvPr/>
        </p:nvSpPr>
        <p:spPr>
          <a:xfrm>
            <a:off x="4900000" y="239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cloud-project-dashboard · EC2-High-CPU-Alarm · CloudTrail 21 GetSecretValue events</a:t>
            </a:r>
          </a:p>
        </p:txBody>
      </p:sp>
      <p:sp>
        <p:nvSpPr>
          <p:cNvPr id="46" name="Card6Bg"/>
          <p:cNvSpPr/>
          <p:nvPr/>
        </p:nvSpPr>
        <p:spPr>
          <a:xfrm>
            <a:off x="4800000" y="3000000"/>
            <a:ext cx="4115000" cy="990000"/>
          </a:xfrm>
          <a:prstGeom prst="roundRect">
            <a:avLst>
              <a:gd name="adj" fmla="val 20000"/>
            </a:avLst>
          </a:prstGeom>
          <a:solidFill>
            <a:srgbClr val="94A3B8">
              <a:alpha val="5000"/>
            </a:srgbClr>
          </a:solidFill>
          <a:ln w="12700">
            <a:solidFill>
              <a:srgbClr val="94A3B8">
                <a:alpha val="20000"/>
              </a:srgbClr>
            </a:solidFill>
          </a:ln>
        </p:spPr>
      </p:sp>
      <p:sp>
        <p:nvSpPr>
          <p:cNvPr id="47" name="ActNumBadge6"/>
          <p:cNvSpPr/>
          <p:nvPr/>
        </p:nvSpPr>
        <p:spPr>
          <a:xfrm>
            <a:off x="4900000" y="3080000"/>
            <a:ext cx="340000" cy="280000"/>
          </a:xfrm>
          <a:prstGeom prst="roundRect">
            <a:avLst>
              <a:gd name="adj" fmla="val 3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94A3B8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</a:rPr>
              <a:t>ACT 07</a:t>
            </a:r>
          </a:p>
        </p:txBody>
      </p:sp>
      <p:sp>
        <p:nvSpPr>
          <p:cNvPr id="48" name="ActTitle6"/>
          <p:cNvSpPr/>
          <p:nvPr/>
        </p:nvSpPr>
        <p:spPr>
          <a:xfrm>
            <a:off x="5300000" y="3080000"/>
            <a:ext cx="3515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Architecture Summary</a:t>
            </a:r>
          </a:p>
        </p:txBody>
      </p:sp>
      <p:sp>
        <p:nvSpPr>
          <p:cNvPr id="49" name="Divline6"/>
          <p:cNvSpPr/>
          <p:nvPr/>
        </p:nvSpPr>
        <p:spPr>
          <a:xfrm>
            <a:off x="4900000" y="3400000"/>
            <a:ext cx="3915000" cy="10000"/>
          </a:xfrm>
          <a:prstGeom prst="rect">
            <a:avLst/>
          </a:prstGeom>
          <a:solidFill>
            <a:srgbClr val="94A3B8">
              <a:alpha val="15000"/>
            </a:srgbClr>
          </a:solidFill>
          <a:ln/>
        </p:spPr>
      </p:sp>
      <p:sp>
        <p:nvSpPr>
          <p:cNvPr id="50" name="ActDesc6"/>
          <p:cNvSpPr/>
          <p:nvPr/>
        </p:nvSpPr>
        <p:spPr>
          <a:xfrm>
            <a:off x="4900000" y="3440000"/>
            <a:ext cx="3915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</a:rPr>
              <a:t>Browser → CF → S3 → EC2 → Secrets Manager → RDS · all services live end-to-end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065A82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engineering problems encountered and resolved during the build.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22860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00200"/>
            <a:ext cx="41330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00200"/>
            <a:ext cx="413308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Secrets Manager prompt: 'select a database'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" y="1965960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RDS didn't exist yet. Used 'Other type of secret' with key-value pairs. Linked to RDS in Phase 4 after the instance was created.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18888" y="1600200"/>
            <a:ext cx="41330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600200"/>
            <a:ext cx="413308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67335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NAT Gateway created without a subnet or EIP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28616" y="1965960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Deleted and recreated correctly: placed in public-subnet-1a, Elastic IP allocated. State moved from Pending to Available.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79192"/>
            <a:ext cx="41330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679192"/>
            <a:ext cx="413308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7523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MySQL: ERROR 1045 Access Denied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" y="304495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Space between -p and password caused mysql to treat the password as the database name. Fixed: -p'password' (no space, single quotes).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2679192"/>
            <a:ext cx="41330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679192"/>
            <a:ext cx="413308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28616" y="27523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HTTP 500 on first PHP page load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28616" y="304495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Missing closing single quote on $host variable. PHP crashed silently. Fix: rewrote entire file cleanly with tee command.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758184"/>
            <a:ext cx="41330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758184"/>
            <a:ext cx="4133088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38313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SELinux blocking Apache → RDS connection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" y="412394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Amazon Linux 2023 runs SELinux enforcing by default. Fix: setsebool -P httpd_can_network_connect 1 and httpd_can_network_connect_db 1.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18888" y="3758184"/>
            <a:ext cx="4133088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3758184"/>
            <a:ext cx="4133088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928616" y="38313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EC2 public IP changed between sessions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28616" y="412394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EC2 public IPs are ephemeral — they change on stop/start. Noted as expected behavior. CloudFront provides the permanent URL.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828800"/>
            <a:ext cx="4114800" cy="41148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2030 Agenda — how this cloud infrastructure supports global development goals.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645920"/>
            <a:ext cx="4133088" cy="1417320"/>
          </a:xfrm>
          <a:prstGeom prst="rect">
            <a:avLst/>
          </a:prstGeom>
          <a:solidFill>
            <a:srgbClr val="0D213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45920"/>
            <a:ext cx="4133088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Infrastructure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democratises access to scalable infrastructure. Startups and SMEs in developing nations can build without massive capital investment — pay-per-use removes the hardware barrier.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18888" y="1645920"/>
            <a:ext cx="4133088" cy="1417320"/>
          </a:xfrm>
          <a:prstGeom prst="rect">
            <a:avLst/>
          </a:prstGeom>
          <a:solidFill>
            <a:srgbClr val="0D2137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645920"/>
            <a:ext cx="4133088" cy="45720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56048" y="226771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Cloud-hosted platforms deliver e-learning globally. AWS Educate provides students with free cloud access. This project itself is evidence of hands-on technical education at scale.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182112"/>
            <a:ext cx="4133088" cy="1417320"/>
          </a:xfrm>
          <a:prstGeom prst="rect">
            <a:avLst/>
          </a:prstGeom>
          <a:solidFill>
            <a:srgbClr val="0D2137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182112"/>
            <a:ext cx="4133088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55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29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8039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Pay-per-use pricing removes barriers for low-income organisations to access enterprise-grade technology previously available only to large corporations with expensive hardware.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18888" y="3182112"/>
            <a:ext cx="4133088" cy="1417320"/>
          </a:xfrm>
          <a:prstGeom prst="rect">
            <a:avLst/>
          </a:prstGeom>
          <a:solidFill>
            <a:srgbClr val="0D2137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18888" y="3182112"/>
            <a:ext cx="4133088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3255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3529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380390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data centres run on 90%+ renewable energy. Shared cloud infrastructure reduces carbon footprint versus redundant on-premise servers running at low utilisation globally.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858000" y="-1645920"/>
            <a:ext cx="4572000" cy="45720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840480"/>
            <a:ext cx="2743200" cy="27432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7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20000"/>
            <a:ext cx="77724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Cloud Infrastructure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90000"/>
            <a:ext cx="77724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production-grade AWS stack built from scratch — eight phases, fully deployed and demonstrated live.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0000"/>
            <a:ext cx="804672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500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1730000"/>
            <a:ext cx="42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IAM + Secrets Manager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Least-privilege roles, MFA, zero hardcoded credentials, audit trail via CloudTrail.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1800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2760000"/>
            <a:ext cx="42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VPC + Security Groups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Isolated network, public/private subnet architecture, SG chaining for DB protection.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3800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" y="3780000"/>
            <a:ext cx="42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RDS MySQL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subnet, encrypted at rest, reachable only through security group chain.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000" y="178500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00000" y="1730000"/>
            <a:ext cx="42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EC2 + Apache + PHP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backend server, Secrets Manager SDK integration, REST API serving JSON.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000" y="281800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00000" y="2760000"/>
            <a:ext cx="42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S3 + CloudFront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Static frontend separated from backend. HTTPS globally via CDN. Permanent URL.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000" y="383800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00000" y="3780000"/>
            <a:ext cx="42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 xml:space="preserve">CloudWatch + CloudTrail 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metrics, CPU alarms, Apache log streaming, API call auditing.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548640" y="4700000"/>
            <a:ext cx="8046720" cy="22860"/>
          </a:xfrm>
          <a:prstGeom prst="rect">
            <a:avLst/>
          </a:prstGeom>
          <a:solidFill>
            <a:srgbClr val="00C9FF">
              <a:alpha val="40000"/>
            </a:srgbClr>
          </a:solidFill>
          <a:ln/>
        </p:spPr>
      </p:sp>
      <p:sp>
        <p:nvSpPr>
          <p:cNvPr id="22" name="Text 14"/>
          <p:cNvSpPr/>
          <p:nvPr/>
        </p:nvSpPr>
        <p:spPr>
          <a:xfrm>
            <a:off x="548640" y="4750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</a:rPr>
              <a:t>PHASE 06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S3 Frontend Hosting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6" name="Screenshot" descr="image-s6-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api.php on EC2 · Secrets Manager SDK · PDO → cloud-project-db · JSON API for S3 frontend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SecretsManagerClient → getSecretValue('rds/cloud-project/credentials') → new PDO → SELECT * FROM products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</a:rPr>
              <a:t>PHASE 06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S3 Frontend Hosting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6" name="Screenshot" descr="image-s6-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S3 website · Load Products → Connected — 3 products loaded from RDS via EC2 API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fetch() → EC2 api.php → Secrets Manager → RDS → JSON · Cloud Server $9.99 · Storage Plan $4.99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5CF6"/>
                </a:solidFill>
                <a:latin typeface="Calibri" pitchFamily="34" charset="0"/>
              </a:rPr>
              <a:t>PHASE 07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CloudFront CDN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6" name="Screenshot" descr="image-cf-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DevTools Network · x-cache: Miss from cloudfront · First load · HTTP/2 · server: AmazonS3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https://dlwztrz85p46c.cloudfront.net/index.html · Status 200 · content-encoding: br · via: CloudFront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PHASE 08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pic>
        <p:nvPicPr>
          <p:cNvPr id="6" name="Screenshot" descr="image-cw-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cloud-project-trail · Trail logging: Active · Multi-region · CloudWatch Logs integration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Log group: cloud-project-cloudtrail-logs · IAM role: cloudtrail-cloudwatch-role · S3: cloud-project-trail-logs-mike/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PHASE 08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pic>
        <p:nvPicPr>
          <p:cNvPr id="6" name="Screenshot" descr="image-cw-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CloudTrail Event History (50+) · All management events audited · admin-user · multi-service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GetBucketOwnership · GetBucketVersioning · DescribeRegions · DescribeAlarms · GetTrailStatus — full audit trail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  <a:latin typeface="Calibri" pitchFamily="34" charset="0"/>
              </a:rPr>
              <a:t>PHASE 08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CloudWatch Monitoring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pic>
        <p:nvPicPr>
          <p:cNvPr id="6" name="Screenshot" descr="image-cw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EC2-High-CPU-Alarm · CPUUtilization &gt; 80% for 1 datapoint in 5 minutes · Actions enabled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 Light" pitchFamily="34" charset="0"/>
              </a:rPr>
              <a:t>Namespace: AWS/EC2 · Instance: cloud-project-backend (i-01164a1cf9f64ee32) · Statistic: Average · Period: 5 min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</a:rPr>
              <a:t>PHASE 06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S3 Frontend Hosting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6" name="Screenshot" descr="image-s6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cloud-project-front-mike · S3 bucket created · Objects (0) — ready for upload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Public access unblocked · Versioning enabled · SSE-S3 encryption · PublicReadGetObject policy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F59E0B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</a:rPr>
              <a:t>PHASE 06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S3 Frontend Hosting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pic>
        <p:nvPicPr>
          <p:cNvPr id="6" name="Screenshot" descr="image-s6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Static website hosting · Enabled · Index: index.html · Error: error.html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Hosting type: Host a static website · bucket endpoint as web address · Block Public Access unblocked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3" name="PhaseLabel"/>
          <p:cNvSpPr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5CF6"/>
                </a:solidFill>
                <a:latin typeface="Calibri" pitchFamily="34" charset="0"/>
              </a:rPr>
              <a:t>PHASE 07  ·  EVIDENCE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5120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</a:rPr>
              <a:t>CloudFront CDN</a:t>
            </a:r>
          </a:p>
        </p:txBody>
      </p:sp>
      <p:sp>
        <p:nvSpPr>
          <p:cNvPr id="5" name="Divider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pic>
        <p:nvPicPr>
          <p:cNvPr id="6" name="Screenshot" descr="image-cf-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8229600" cy="3280000"/>
          </a:xfrm>
          <a:prstGeom prst="rect">
            <a:avLst/>
          </a:prstGeom>
        </p:spPr>
      </p:pic>
      <p:sp>
        <p:nvSpPr>
          <p:cNvPr id="7" name="Dot"/>
          <p:cNvSpPr/>
          <p:nvPr/>
        </p:nvSpPr>
        <p:spPr>
          <a:xfrm>
            <a:off x="502920" y="4450000"/>
            <a:ext cx="54864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Caption1"/>
          <p:cNvSpPr/>
          <p:nvPr/>
        </p:nvSpPr>
        <p:spPr>
          <a:xfrm>
            <a:off x="658368" y="4430000"/>
            <a:ext cx="804672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</a:rPr>
              <a:t>DevTools Network · x-cache: Hit from cloudfront · Reload · 304 · load: 740ms → 121ms cached</a:t>
            </a:r>
          </a:p>
        </p:txBody>
      </p:sp>
      <p:sp>
        <p:nvSpPr>
          <p:cNvPr id="9" name="Caption2"/>
          <p:cNvSpPr/>
          <p:nvPr/>
        </p:nvSpPr>
        <p:spPr>
          <a:xfrm>
            <a:off x="658368" y="4760000"/>
            <a:ext cx="804672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</a:rPr>
              <a:t>age: 1377 · etag matched · x-amz-cf-pop: LOS50-P3 · Edge cache serving — EC2 not hit on reload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You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BgIllustration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0" name="Handshake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CourseLabel"/>
          <p:cNvSpPr/>
          <p:nvPr/>
        </p:nvSpPr>
        <p:spPr>
          <a:xfrm>
            <a:off x="457200" y="800000"/>
            <a:ext cx="8229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100" b="1" spc="400" dirty="0">
                <a:solidFill>
                  <a:srgbClr val="00C9FF"/>
                </a:solidFill>
                <a:latin typeface="Calibri" pitchFamily="34" charset="0"/>
              </a:rPr>
              <a:t>Practical in Cloud Computing  ·  Mr Ajayi  ·  Project 1</a:t>
            </a:r>
          </a:p>
        </p:txBody>
      </p:sp>
      <p:sp>
        <p:nvSpPr>
          <p:cNvPr id="3" name="ThankYouText"/>
          <p:cNvSpPr/>
          <p:nvPr/>
        </p:nvSpPr>
        <p:spPr>
          <a:xfrm>
            <a:off x="457200" y="1300000"/>
            <a:ext cx="82296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</a:rPr>
              <a:t>Thank You</a:t>
            </a:r>
          </a:p>
        </p:txBody>
      </p:sp>
      <p:sp>
        <p:nvSpPr>
          <p:cNvPr id="4" name="StudentName"/>
          <p:cNvSpPr/>
          <p:nvPr/>
        </p:nvSpPr>
        <p:spPr>
          <a:xfrm>
            <a:off x="457200" y="280000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</a:rPr>
              <a:t>Abdoul Malick LAWAL</a:t>
            </a:r>
          </a:p>
        </p:txBody>
      </p:sp>
      <p:sp>
        <p:nvSpPr>
          <p:cNvPr id="5" name="ProjectLine"/>
          <p:cNvSpPr/>
          <p:nvPr/>
        </p:nvSpPr>
        <p:spPr>
          <a:xfrm>
            <a:off x="457200" y="3280000"/>
            <a:ext cx="82296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 Light" pitchFamily="34" charset="0"/>
              </a:rPr>
              <a:t>Full Cloud Infrastructure System  ·  IAM · VPC · EC2 · RDS · S3 · CloudFront · CloudWatch</a:t>
            </a:r>
          </a:p>
        </p:txBody>
      </p:sp>
      <p:sp>
        <p:nvSpPr>
          <p:cNvPr id="6" name="CFUrl"/>
          <p:cNvSpPr/>
          <p:nvPr/>
        </p:nvSpPr>
        <p:spPr>
          <a:xfrm>
            <a:off x="2800000" y="3800000"/>
            <a:ext cx="3544000" cy="280000"/>
          </a:xfrm>
          <a:prstGeom prst="rect">
            <a:avLst/>
          </a:prstGeom>
          <a:solidFill>
            <a:srgbClr val="00C9FF">
              <a:alpha val="8000"/>
            </a:srgbClr>
          </a:solidFill>
          <a:ln w="19050">
            <a:solidFill>
              <a:srgbClr val="00C9FF">
                <a:alpha val="25000"/>
              </a:srgbClr>
            </a:solidFill>
          </a:ln>
        </p:spPr>
        <p:txBody>
          <a:bodyPr wrap="square" lIns="91440" tIns="0" rIns="91440" bIns="0" rtlCol="0" anchor="ctr"/>
          <a:lstStyle/>
          <a:p>
            <a:pPr indent="0" marL="0" algn="ctr">
              <a:buNone/>
            </a:pPr>
            <a:r>
              <a:rPr lang="en-US" sz="1100" dirty="0">
                <a:solidFill>
                  <a:srgbClr val="00C9FF"/>
                </a:solidFill>
                <a:latin typeface="Calibri" pitchFamily="34" charset="0"/>
              </a:rPr>
              <a:t>dlwztrz85p46c.cloudfront.net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Cloud Infrastructure System</dc:title>
  <dc:subject>PptxGenJS Presentation</dc:subject>
  <dc:creator>PptxGenJS</dc:creator>
  <cp:lastModifiedBy>PptxGenJS</cp:lastModifiedBy>
  <cp:revision>1</cp:revision>
  <dcterms:created xsi:type="dcterms:W3CDTF">2026-05-21T17:25:34Z</dcterms:created>
  <dcterms:modified xsi:type="dcterms:W3CDTF">2026-05-21T17:25:34Z</dcterms:modified>
</cp:coreProperties>
</file>